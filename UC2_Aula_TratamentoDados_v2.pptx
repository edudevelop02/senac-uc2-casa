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44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822960"/>
          </a:xfrm>
          <a:prstGeom prst="rect">
            <a:avLst/>
          </a:prstGeom>
          <a:solidFill>
            <a:srgbClr val="034752"/>
          </a:solidFill>
          <a:ln w="12700">
            <a:solidFill>
              <a:srgbClr val="0347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47472" y="411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777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47472" y="1920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Tratamento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Auditoria de Dados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" y="2971800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47472" y="3182112"/>
            <a:ext cx="2560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94944" y="3218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→ Inspecione antes de agir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3685032"/>
            <a:ext cx="2560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94944" y="3721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→ Corrija o que está errado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4187952"/>
            <a:ext cx="256032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94944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→ Prepare para a análise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4617720"/>
            <a:ext cx="45720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47472" y="46817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4910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RJ — Tecnologia da Informação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Auditoria, Limpeza e Tratamento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743200" cy="3200400"/>
          </a:xfrm>
          <a:prstGeom prst="rect">
            <a:avLst/>
          </a:prstGeom>
          <a:solidFill>
            <a:srgbClr val="1A3040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274320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errado?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901952"/>
            <a:ext cx="2468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inspeção. Você não altera nada — apenas observa, mede e documenta os problemas encontrados no dataset.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4160520"/>
            <a:ext cx="2468880" cy="228600"/>
          </a:xfrm>
          <a:prstGeom prst="rect">
            <a:avLst/>
          </a:prstGeom>
          <a:solidFill>
            <a:srgbClr val="0D223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modifica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261872"/>
            <a:ext cx="2743200" cy="3200400"/>
          </a:xfrm>
          <a:prstGeom prst="rect">
            <a:avLst/>
          </a:prstGeom>
          <a:solidFill>
            <a:srgbClr val="1A3040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73552" y="1261872"/>
            <a:ext cx="2743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83280" y="12984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corrigir?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10712" y="1901952"/>
            <a:ext cx="2468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sobre os problemas estruturais: remove duplicatas, trata nulos, corrige tipos errados e padroniza textos.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10712" y="4160520"/>
            <a:ext cx="2468880" cy="228600"/>
          </a:xfrm>
          <a:prstGeom prst="rect">
            <a:avLst/>
          </a:prstGeom>
          <a:solidFill>
            <a:srgbClr val="0D2233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410712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Remove/Corrige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1261872"/>
            <a:ext cx="2743200" cy="3200400"/>
          </a:xfrm>
          <a:prstGeom prst="rect">
            <a:avLst/>
          </a:prstGeom>
          <a:solidFill>
            <a:srgbClr val="1A3040"/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199632" y="1261872"/>
            <a:ext cx="2743200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09360" y="12984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5544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preparar?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36792" y="1901952"/>
            <a:ext cx="2468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analítica: transforma os dados para análise. Trata outliers, cria colunas derivadas, normaliza valores.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36792" y="4160520"/>
            <a:ext cx="2468880" cy="228600"/>
          </a:xfrm>
          <a:prstGeom prst="rect">
            <a:avLst/>
          </a:prstGeom>
          <a:solidFill>
            <a:srgbClr val="0D2233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36792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" y="45902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as três etapas se sobrepõem — mas conceitualmente seguem essa ordem.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 — funcionarios_naragroup_dirty.csv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DATASET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916857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fictício de RH da NaraGroup — cheio de problemas intencionais para explorarmos em aula.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472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 esperado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Problema plantado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int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nome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Espaços extras: '  Ana Lima '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departamento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Categorias sujas: 'ti', 'TI', 'T.I.', 'Tecnologia'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cargo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salario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float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String com vírgula: '"3.500,00"' | negativos | outlier 999999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data_admissao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datetime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3 formatos: YYYY-MM-DD, DD/MM/YYYY, Mon-YYYY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email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NaN em ~8 linhas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ativo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Variações: 'Sim','sim','SIM','S','1','True'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535424"/>
            <a:ext cx="822960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4535424"/>
            <a:ext cx="64008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0080" y="46268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linhas · delimitador ; · 10 linhas duplicadas inseridas · encoding UTF-8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passos: shape, head() e tail()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DATASET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coisa, precisamos entender o que temos.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44348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292608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12435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261872"/>
            <a:ext cx="39959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pd.read_csv(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'funcionarios_naragroup_sujo.csv'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sep=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';'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(df.shape)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(df.head(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(df.tail(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3611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74920" y="1170432"/>
            <a:ext cx="640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30368" y="12252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0368" y="1490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linhas, 8 colunas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1856232"/>
            <a:ext cx="3611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074920" y="1856232"/>
            <a:ext cx="6400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230368" y="19110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df.head(5)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30368" y="21762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rápida do início — inconsistências já aparecem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2542032"/>
            <a:ext cx="3611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074920" y="2542032"/>
            <a:ext cx="64008" cy="594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30368" y="2596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df.tail(3)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30368" y="2862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os dados terminam corretamente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822960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7200" y="3401568"/>
            <a:ext cx="6400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0080" y="34930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comece por aqui — são os olhos no dataset antes de qualquer ação.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388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— resumo completo: tipos + nulos em uma só chamada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292608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57200" y="42336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" y="4251960"/>
            <a:ext cx="7790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mostra: RangeIndex, colunas, non-null count e dtype de cada coluna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Radiografia do Dataset: dtypes e describe()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DATASET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dtypes revela tipos errados. describe() revela outliers e distribuições suspeitas — antes de olhar os valores individualmente.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0690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292608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389888"/>
            <a:ext cx="36301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Tipos de cada coluna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(df.dtypes)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Estatísticas das colunas numéricas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(df.describe())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Colunas de texto também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(df.describe(include=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'object'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298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tipo identificados: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664208"/>
            <a:ext cx="39776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09160" y="1664208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64608" y="1719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975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atual: object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9751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tem aspas e vírgula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414016"/>
            <a:ext cx="39776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709160" y="2414016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64608" y="24688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data_admissao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atual: object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7249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— formatos mistos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163824"/>
            <a:ext cx="39776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709160" y="3163824"/>
            <a:ext cx="64008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64608" y="3218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608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atual: object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4747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nulos detectados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913632"/>
            <a:ext cx="39776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709160" y="3913632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64608" y="39684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224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atual: object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42245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inconsistentes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355848"/>
            <a:ext cx="406908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57200" y="3355848"/>
            <a:ext cx="640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0080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desvio padrão distorcidos no describe() são os primeiros sinais de outliers no dataset.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Caçando Nulos: isnull() e isnull().sum()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AUDITORIA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auditoria não alteramos nada — apenas medimos e documentamos.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23042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92608" cy="23042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280160"/>
            <a:ext cx="779068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Contagem de nulos por coluna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Percentual de nulos — colunas com &gt;15% exigem atenção especial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(df.isnull().sum() / len(df) *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QUAIS linhas têm pelo menos um nulo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df[df.isnull()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Gera True/False para cada dado (True = nulo)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.any(axis=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any(): existe pelo menos um True? axis=1: por linha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com mais de 15% de nulos exigem atenção especial — pode ser necessário removê-las ou reavaliar a coleta de dados.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df.isnull().any(axis=1) mostra as linhas que têm pelo menos um nulo — ótimo para revisão manual.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Caçando Duplicatas: duplicated()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AUDITORIA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5029200" cy="23957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292608" cy="23957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9418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960120"/>
            <a:ext cx="459028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Quantidade de duplicatas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 TODAS as ocorrências duplicadas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df[df.duplicated(keep=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Duplicata apenas por colunas-chave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df.duplicated(subset=[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'nome'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'departamento'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]).sum()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868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keep=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234440"/>
            <a:ext cx="301752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69280" y="1234440"/>
            <a:ext cx="6400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24728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keep='first'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24728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como duplicata a partir da 2ª ocorrência (padrão)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2039112"/>
            <a:ext cx="301752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669280" y="2039112"/>
            <a:ext cx="6400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824728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keep='last'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24728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tudo exceto a última ocorrência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2843784"/>
            <a:ext cx="301752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0" y="2843784"/>
            <a:ext cx="64008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24728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keep=False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24728" y="3209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TODAS as ocorrências — use para visualizar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09132"/>
            <a:ext cx="82296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7200" y="3809132"/>
            <a:ext cx="64008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0080" y="39005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ANTES de remover — uma duplicata pode ser um dado legítimo (ex: mesmo funcionário em duas filiais).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subset= para verificar duplicatas apenas nas colunas realmente relevantes.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 de Texto: value_counts()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AUDITORIA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dado escrito de formas diferentes gera agrupamentos errados na análise.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4572000" cy="1755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292608" cy="17556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12435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261872"/>
            <a:ext cx="41330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variações do departamento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'departamento'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].value_counts()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Saída esperada: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           12
</a:t>
            </a: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            5  ← mesmo valor!
T.I.          3  ← mesmo valor!
Tecnologia    4  ← mesmo valor!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colunas para checar: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536192"/>
            <a:ext cx="34747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212080" y="1536192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67528" y="1609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'Sim','sim','SIM','S','1','True'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377440"/>
            <a:ext cx="34747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212080" y="2377440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367528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67528" y="2761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'Analista','ANALISTA','analista'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3218688"/>
            <a:ext cx="34747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212080" y="3218688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367528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67528" y="3602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 Ana Lima ','Ana Lima'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88673"/>
            <a:ext cx="8229600" cy="4389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4088673"/>
            <a:ext cx="6400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0080" y="4180113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tratado: df.groupby('departamento') gerará 4 grupos separados onde deveria haver 1.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Auditoria — Resumo dos Problemas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AUDITORIA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agir, documente. O relatório de auditoria é o contrato entre o analista e os dados.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0132"/>
              </p:ext>
            </p:extLst>
          </p:nvPr>
        </p:nvGraphicFramePr>
        <p:xfrm>
          <a:off x="457200" y="1188720"/>
          <a:ext cx="8229600" cy="37490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Coluna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</a:rPr>
                        <a:t>Problema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Qtd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Severidade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salario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Tipo errado (string com aspas e vírgula)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~15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🔴 Alta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data_admissao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Tipo errado (object) + 3 formatos mistos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🔴 Alta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Toda a tabela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10 linhas completamente duplicadas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🔴 Alta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email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Valores nulos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🔴 Alta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departamento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Inconsistência de capitalização e variações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~24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🟡 Média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nome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Espaços extras nas bordas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~12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🟡 Média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salario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Valores negativos (impossíveis)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🟡 Média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salario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Outlier extremo (999999)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🟡 Média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ativo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Capitalização e formatos inconsistentes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var.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🟢 Baixa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47472" y="2926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conteúdo ANTES de converter o tipo — princípio fundamental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388620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3886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ERRADO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566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Mediana calculada com dados sujos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mediana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pd.to_numeric(df['salario'],
           errors='coerce').median()
</a:t>
            </a: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Aspas e vírgulas excluem dados da mediana!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df['salario']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.fillna(mediana)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3128" y="1207008"/>
            <a:ext cx="4343400" cy="1828800"/>
          </a:xfrm>
          <a:prstGeom prst="rect">
            <a:avLst/>
          </a:prstGeom>
          <a:solidFill>
            <a:srgbClr val="0A1F0A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453128" y="1207008"/>
            <a:ext cx="4343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453128" y="12070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08576" y="1627632"/>
            <a:ext cx="40416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Primeiro: limpar o conteúdo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df['salario']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.str.replace('"','').str.replace(',','.')
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Depois: converter tipo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df['salario']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pd.to_numeric(df['salario'], errors=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'coerce'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Só então: calcular mediana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mediana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df['salario'].median()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3218688"/>
            <a:ext cx="2743200" cy="1389888"/>
          </a:xfrm>
          <a:prstGeom prst="rect">
            <a:avLst/>
          </a:prstGeom>
          <a:solidFill>
            <a:srgbClr val="1A2A3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84632" y="331012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 strings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aspas, trocar vírgula, tirar unidades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73552" y="3218688"/>
            <a:ext cx="2743200" cy="1389888"/>
          </a:xfrm>
          <a:prstGeom prst="rect">
            <a:avLst/>
          </a:prstGeom>
          <a:solidFill>
            <a:srgbClr val="1A2A3A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410712" y="3310128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410712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13632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tipo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0712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pd.to_numeric() · pd.to_datetime() · astype()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3218688"/>
            <a:ext cx="2743200" cy="1389888"/>
          </a:xfrm>
          <a:prstGeom prst="rect">
            <a:avLst/>
          </a:prstGeom>
          <a:solidFill>
            <a:srgbClr val="1A2A3A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336792" y="3310128"/>
            <a:ext cx="402336" cy="4023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36792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9712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estatísticas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Mediana, média — agora com dados consistentes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Removendo Duplicatas: drop_duplicates()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LIMPEZA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5303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841248"/>
            <a:ext cx="292608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932688"/>
            <a:ext cx="4864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Remover duplicatas completas
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df.drop_duplicates()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(df.shape)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(90, 8) — 10 removidas
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Duplicata por colunas específicas
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df.drop_duplicates(
    subset=[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'nome'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'departamento'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    keep=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'first'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841248"/>
            <a:ext cx="1463040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943600" y="868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11556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94360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16368" y="1234440"/>
            <a:ext cx="320040" cy="34747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909560" y="841248"/>
            <a:ext cx="118872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909560" y="868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111556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790956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16352"/>
            <a:ext cx="822960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816352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29077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nem toda linha repetida é um erro! Um funcionário pode aparecer em dois registros legítimos (ex: transferência).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subset= para verificar duplicatas apenas nas colunas realmente relevantes.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Tratando Nulos: dropna() vs fillna()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LIMPEZA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entre remover ou preencher depende do contexto — não existe regra única.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4114800" cy="20848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41148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66928" y="12344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— quando remover?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com &gt; 50% de nulos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01168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04672" y="1993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obrigatório ausente (id, email)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34086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04672" y="23225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padrão lógico para preencher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706624"/>
            <a:ext cx="38953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8368" y="274320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df.dropna(subset=['email'])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df.dropna(thresh=6)  # mín 6 não-nulos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207008"/>
            <a:ext cx="4114800" cy="20848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800600" y="1207008"/>
            <a:ext cx="41148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10328" y="12344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 — quando preencher?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10328" y="168249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148072" y="1664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esporádicos em coluna numérica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0328" y="201168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148072" y="1993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desconhecida → 'Não informado'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0328" y="234086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148072" y="23225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pode ser inferido do contexto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0328" y="2706624"/>
            <a:ext cx="38953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01768" y="274320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df['email'] = df['email'].fillna('sem_email')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df['salario'] = df['salario'].fillna(mediana)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364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inteligente — qual medida usar?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694176"/>
            <a:ext cx="2697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57200" y="3694176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008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059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numéricas contínuas e sem outliers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91840" y="3694176"/>
            <a:ext cx="2697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3291840" y="3694176"/>
            <a:ext cx="64008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47472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4720" y="4059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numéricas com outliers ou assimetria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3694176"/>
            <a:ext cx="2697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6126480" y="3694176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30936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09360" y="4059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categóricas ou discretas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Corrigindo Tipos: strings, números e datas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LIMPEZA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 tipo errado impedem cálculos, filtros e visualizações corretos. Sempre limpar ANTES de converter.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— limpeza antes da conversão: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2606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6692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"3.500,00"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1938528"/>
            <a:ext cx="237744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91840" y="1572768"/>
            <a:ext cx="2606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40156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"3.500,00"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16752" y="1938528"/>
            <a:ext cx="237744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126480" y="1572768"/>
            <a:ext cx="2606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3620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3500.0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542032"/>
            <a:ext cx="43891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542032"/>
            <a:ext cx="292608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26151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" y="2633472"/>
            <a:ext cx="39502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Passo 1: limpar conteúdo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df['salario']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df['salario'].astype(str)\
    .str.replace('"','',regex=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)\
    .str.replace(',','.',regex=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Passo 2: converter tipo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df['salario']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pd.to_numeric(df['salario'],errors=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'coerce'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2542032"/>
            <a:ext cx="36576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029200" y="2542032"/>
            <a:ext cx="292608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29200" y="26151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76672" y="2633472"/>
            <a:ext cx="3218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Datas — múltiplos formatos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df['data_admissao']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pd.to_datetime(
    df['data_admissao'],
    format=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'mixed'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dayfirst=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errors=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'coerce'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64008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format='mixed' — aceita múltiplos formatos de data na mesma coluna. Datas inválidas viram NaT.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Padronizando Texto: str.strip(), str.upper(), map()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LIMPEZA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50292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841248"/>
            <a:ext cx="292608" cy="2651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932688"/>
            <a:ext cx="45902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Espaços e capitalização — sempre primeiro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df['nome']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df['nome'].str.strip()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df['departamento']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df['departamento'].str.strip().str.upper()
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o que sobrou após padronizar
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df['departamento'].unique()
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Mapear variações para o valor correto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'T.I.':'TI', 'TECNOLOGIA':'TI', 'TECNOLOGIA DA INFORMAÇÃO':'TI',
    'R.H.':'RH', 'RECURSOS HUMANOS':'RH',
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df['departamento']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df['departamento'].map(mapa).fillna(df['departamento'])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841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str. mais usados: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207008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69280" y="120700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24728" y="1243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.str.strip()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24728" y="142646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espaços nas bordas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709928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669280" y="170992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824728" y="1746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.str.lower()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24728" y="192938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para minúsculas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212848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0" y="221284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24728" y="2249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.str.upper()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24728" y="243230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para maiúsculas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2715768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669280" y="271576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824728" y="2752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.str.title()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24728" y="293522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letra de cada palavra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218688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669280" y="321868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824728" y="32552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.str.replace()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24728" y="34381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substring por outra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721608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5669280" y="3721608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824728" y="37581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.str.contains()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24728" y="394106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linhas com padrão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322500"/>
            <a:ext cx="822960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57200" y="4322500"/>
            <a:ext cx="64008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40080" y="44139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fillna(df['departamento']) — mantém os valores que já estavam corretos e não precisavam de remapeamento.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Impossíveis: filtro com .loc e between()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TRATAMENTO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passaram pela validação do sistema mas não fazem sentido no mundo real.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8229600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292608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12435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261872"/>
            <a:ext cx="7790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Identificar salários negativos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(f'Salários negativos: {(df["salario"] &lt; 0).sum()}')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(df[df['salario'] &lt; 0][['nome','departamento','salario']])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Remover salários negativos ou zerados
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df.shape[0]
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df[df['salario'] &gt; 0]
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(f'Removidos: {antes - df.shape[0]}')
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Filtrar dentro de um intervalo válido
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df[df['salario'].between(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1412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salário mínimo → teto realista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400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registre quantos registros foram removidos em cada etapa — é parte da auditoria e deve ser documentado.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between(a,b) é equivalente a (df['col'] &gt;= a) &amp; (df['col'] &lt;= b) — mais legível.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Detectando e Tratando Outliers: IQR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TRATAMENTO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41248"/>
            <a:ext cx="5029200" cy="20848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841248"/>
            <a:ext cx="292608" cy="20848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932688"/>
            <a:ext cx="45902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dropna() antes do np.array é necessário
# pois o NumPy não lida bem com nulos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np.array(df['salario'].dropna())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np.percentile(dados,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np.percentile(dados,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q3 - q1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lim_sup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q3 + (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iqr)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lim_inf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q1 - (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iqr)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df.loc[df['salario'] &gt; lim_sup]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841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com outliers?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207008"/>
            <a:ext cx="3017520" cy="8961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69280" y="1207008"/>
            <a:ext cx="30175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69280" y="12070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79008" y="153619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claramente inválido (ex: salário 999999 — erro de digitação)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79008" y="1865376"/>
            <a:ext cx="2798064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15584" y="1874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df[df['salario'] &lt;= lim_sup]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0" y="2212848"/>
            <a:ext cx="3017520" cy="89611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669280" y="2212848"/>
            <a:ext cx="30175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69280" y="2212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79008" y="254203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válido, mas valor improvável. Substitua pela mediana.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79008" y="2871216"/>
            <a:ext cx="2798064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815584" y="2880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df.loc[df['salario']&gt;lim_sup,'salario'] = df['salario'].median()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0" y="3218688"/>
            <a:ext cx="3017520" cy="8961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669280" y="3218688"/>
            <a:ext cx="30175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669280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79008" y="35478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real e relevante (ex: salário de diretor — cliente VIP).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79008" y="3877056"/>
            <a:ext cx="2798064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815584" y="38862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Documentar e manter no dataset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Derivadas: apply() e Operações Vetorizadas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TRATAMENTO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novas colunas a partir dos dados existentes enriquece o dataset para análise.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5029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292608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12435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1261872"/>
            <a:ext cx="459028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Operação vetorizada — mais rápida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df['anos_empresa']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
    pd.Timestamp.now() - df['data_admissao']
).dt.days //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365
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apply() com função — mais flexível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faixa_salarial(sal):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 &lt;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return 'Júnior'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 &lt;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return 'Pleno'
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return 'Sênior'
</a:t>
            </a: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df['faixa_salarial']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df['salario'].apply(faixa_salarial)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— novas colunas: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508760"/>
          <a:ext cx="3017520" cy="1920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salario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anos_empresa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faixa_salarial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3500.00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Júnior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7800.00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Pleno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14200.00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Sênior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2200.00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Júnior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858768"/>
            <a:ext cx="8229600" cy="4114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57200" y="3858768"/>
            <a:ext cx="64008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" y="39502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vetorizadas (sem apply) são 10-100× mais rápidas — use sempre que possível. Use apply() só quando precisar de lógica condicional.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Antes vs. Depois — Comparativo Final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RESULTADO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41248"/>
          <a:ext cx="8229600" cy="3429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Problema Identificado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Solução Aplicada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10 linhas duplicadas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drop_duplicates()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Limpeza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8 nulos em email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dropna(subset=['email'])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Limpeza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salario como string com aspas e vírgula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str.replace() + pd.to_numeric()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Limpeza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data_admissao com 3 formatos mistos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pd.to_datetime(format='mixed')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Limpeza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departamento com 5+ variações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str.strip() + str.upper() + map()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Limpeza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nome com espaços invisíveis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str.strip()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Limpeza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3 salários negativos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filtro .loc &gt; 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Tratamento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 outlier extremo (999999)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IQR — remoção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Tratamento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Sem coluna faixa_salarial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apply(faixa_salarial)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Tratamento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389120"/>
            <a:ext cx="274320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914400" y="4416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636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linhas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colunas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03520" y="4389120"/>
            <a:ext cx="274320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303520" y="4416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4636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 linhas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colunas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94760" y="4517136"/>
            <a:ext cx="1371600" cy="34747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7200" y="50292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coluna derivada · -13 registros inválidos · 0 nulos · 0 duplicatas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Auditoria e Limpeza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RESULTADO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  |  Pandas: Limpeza, Tratamento e Auditoria de Dados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este checklist em qualquer projeto de análise de dados com Pandas.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66928" y="123444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2926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17190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df.shape → quantas linhas e colunas?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139696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2926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213969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1945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→ tipos corretos? há nulos?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2926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261518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267004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→ outliers numéricos?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2926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30906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145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quais colunas têm nulos?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926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36210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→ linhas repetidas?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041648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57200" y="4041648"/>
            <a:ext cx="2926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57200" y="40416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" y="40965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df['col'].value_counts() → inconsistências de texto?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1207008"/>
            <a:ext cx="4114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956048" y="123444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&amp; TRATAMENTO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1664208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846320" y="1664208"/>
            <a:ext cx="29260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46320" y="166420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30368" y="17190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duplicatas (verificar contexto antes!)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2139696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846320" y="2139696"/>
            <a:ext cx="29260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846320" y="213969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30368" y="21945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 strings ANTES de converter tipos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2615184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4846320" y="2615184"/>
            <a:ext cx="29260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846320" y="261518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30368" y="267004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tipos: astype, to_numeric, to_datetime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46320" y="3090672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846320" y="3090672"/>
            <a:ext cx="29260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846320" y="30906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30368" y="3145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texto: strip, upper/lower, map()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3566160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4846320" y="3566160"/>
            <a:ext cx="29260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4846320" y="35661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30368" y="36210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nulos com critério: dropna ou fillna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46320" y="4041648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4846320" y="4041648"/>
            <a:ext cx="29260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4846320" y="40416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230368" y="40965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outliers: remover, substituir ou manter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46320" y="4517136"/>
            <a:ext cx="4114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4846320" y="4517136"/>
            <a:ext cx="29260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4846320" y="451713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230368" y="45720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colunas derivadas para enriquecer análise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822960"/>
          </a:xfrm>
          <a:prstGeom prst="rect">
            <a:avLst/>
          </a:prstGeom>
          <a:solidFill>
            <a:srgbClr val="034752"/>
          </a:solidFill>
          <a:ln w="12700">
            <a:solidFill>
              <a:srgbClr val="0347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47472" y="320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Inspecione antes de agir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2130552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7472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57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4505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Corrija o que está errado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3300984"/>
            <a:ext cx="475488" cy="47548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47472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328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6210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Prepare para a análise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43708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47472" y="44622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4480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Cassio Ribeiro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" y="47183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RJ — Tecnologia da Informação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Limpeza, Tratamento e Auditoria de Dados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87807AF5-D3F7-4A40-A774-59465E329B50}"/>
</file>

<file path=customXml/itemProps2.xml><?xml version="1.0" encoding="utf-8"?>
<ds:datastoreItem xmlns:ds="http://schemas.openxmlformats.org/officeDocument/2006/customXml" ds:itemID="{D0F995D0-CE53-45FC-B0F7-D6C6EB4B0CCD}"/>
</file>

<file path=customXml/itemProps3.xml><?xml version="1.0" encoding="utf-8"?>
<ds:datastoreItem xmlns:ds="http://schemas.openxmlformats.org/officeDocument/2006/customXml" ds:itemID="{B2ECE31A-6111-4ED2-B6D9-FC1FF169E0A4}"/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3144</Words>
  <Application>Microsoft Office PowerPoint</Application>
  <PresentationFormat>Apresentação na tela (16:9)</PresentationFormat>
  <Paragraphs>409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Prof. Cassio Ribeiro</dc:creator>
  <cp:lastModifiedBy>Cassio Cristiano Pereira Ribeiro</cp:lastModifiedBy>
  <cp:revision>3</cp:revision>
  <dcterms:created xsi:type="dcterms:W3CDTF">2026-05-15T16:30:24Z</dcterms:created>
  <dcterms:modified xsi:type="dcterms:W3CDTF">2026-05-15T19:05:09Z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</Properties>
</file>